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58EE9B-FF03-4ADF-8748-086594D4EEA5}">
  <a:tblStyle styleId="{B458EE9B-FF03-4ADF-8748-086594D4EE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1" Type="http://schemas.openxmlformats.org/officeDocument/2006/relationships/image" Target="../media/image17.png"/><Relationship Id="rId10" Type="http://schemas.openxmlformats.org/officeDocument/2006/relationships/image" Target="../media/image33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jpg"/><Relationship Id="rId5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42.png"/><Relationship Id="rId7" Type="http://schemas.openxmlformats.org/officeDocument/2006/relationships/image" Target="../media/image32.png"/><Relationship Id="rId8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7764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50344" y="2824162"/>
            <a:ext cx="10491311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Autonomous Agricultural Rover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86112" y="3780383"/>
            <a:ext cx="58197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Precision Weed Detection &amp; Laser Elimination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952400" y="4888400"/>
            <a:ext cx="228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700">
              <a:solidFill>
                <a:srgbClr val="16653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title="Screenshot 2026-04-30 142252.png"/>
          <p:cNvPicPr preferRelativeResize="0"/>
          <p:nvPr/>
        </p:nvPicPr>
        <p:blipFill rotWithShape="1">
          <a:blip r:embed="rId4">
            <a:alphaModFix/>
          </a:blip>
          <a:srcRect b="0" l="671" r="681" t="0"/>
          <a:stretch/>
        </p:blipFill>
        <p:spPr>
          <a:xfrm>
            <a:off x="6381750" y="2000250"/>
            <a:ext cx="5238600" cy="3810000"/>
          </a:xfrm>
          <a:prstGeom prst="roundRect">
            <a:avLst>
              <a:gd fmla="val 8192" name="adj"/>
            </a:avLst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4574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system is an autonomous solution designed to revolutionize modern farming by replacing chemical-heavy weeding with precision engineering.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5623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Navigation: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Line-following for precise paths.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40576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Perception: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Vision-based weed identification.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5529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Treatment: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Targeted elimination via laser modules.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50482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Safety: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Integrated obstacle avoidance protocols.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00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957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91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863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System Mission &amp; Vision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5512"/>
            <a:ext cx="523875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95512"/>
            <a:ext cx="523875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62025" y="2586037"/>
            <a:ext cx="46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404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High-Level Brain (RPi 5)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2025" y="305276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Responsible for computationally intensive tasks including AI-driven vision processing, weed classification, and high-level decision logic.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72275" y="2586037"/>
            <a:ext cx="46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404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Real-Time Muscle (ESP32)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72275" y="305276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Handles real-time sensor polling and motor control where latency must be minimized to ensure mechanical stability.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60978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38225" y="4157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52525" y="41576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YOLO-based Detection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38225" y="4462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52525" y="44624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Relay Actuation (Laser)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38225" y="47672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52525" y="47672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UART Instruction Master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603464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848475" y="4157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962775" y="41576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PWM Motor Driving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848475" y="4462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962775" y="44624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Ultrasonic &amp; Line Polling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848475" y="47672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962775" y="47672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Safety-Interlocks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Distributed Control System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16"/>
          <p:cNvGraphicFramePr/>
          <p:nvPr/>
        </p:nvGraphicFramePr>
        <p:xfrm>
          <a:off x="571500" y="2014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{B458EE9B-FF03-4ADF-8748-086594D4EEA5}</a:tableStyleId>
              </a:tblPr>
              <a:tblGrid>
                <a:gridCol w="1859300"/>
                <a:gridCol w="3451025"/>
                <a:gridCol w="5738675"/>
              </a:tblGrid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Functionality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6534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Controllers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RPi 5 &amp; ESP32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High-level AI + Low-level Real-time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TT Motors &amp; SG90 Servo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Locomotion and directional sensor scanning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RPi Camera 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Ground image capture for weed identification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HC-SR04 &amp; TCRT5000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Obstacle detection &amp; Line following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LM2596 &amp; L298N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Voltage regulation &amp; Power motor driving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6"/>
          <p:cNvSpPr/>
          <p:nvPr/>
        </p:nvSpPr>
        <p:spPr>
          <a:xfrm>
            <a:off x="571500" y="3343275"/>
            <a:ext cx="18593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430809" y="3343275"/>
            <a:ext cx="34510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881836" y="3343275"/>
            <a:ext cx="573866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71500" y="4000500"/>
            <a:ext cx="18593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430809" y="4000500"/>
            <a:ext cx="34510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881836" y="4000500"/>
            <a:ext cx="573866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4657725"/>
            <a:ext cx="18593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430809" y="4657725"/>
            <a:ext cx="34510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881836" y="4657725"/>
            <a:ext cx="573866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1500" y="5314950"/>
            <a:ext cx="18593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430809" y="5314950"/>
            <a:ext cx="34510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881836" y="5314950"/>
            <a:ext cx="573866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5972175"/>
            <a:ext cx="185930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430809" y="5972175"/>
            <a:ext cx="34510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881836" y="5972175"/>
            <a:ext cx="573866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System Bill of Materials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809625" y="571500"/>
            <a:ext cx="110490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Operational Workflow</a:t>
            </a:r>
            <a:endParaRPr b="1" sz="3000">
              <a:solidFill>
                <a:srgbClr val="14532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2571750" y="3409950"/>
            <a:ext cx="4786275" cy="38100"/>
            <a:chOff x="2571750" y="3409950"/>
            <a:chExt cx="4786275" cy="38100"/>
          </a:xfrm>
        </p:grpSpPr>
        <p:pic>
          <p:nvPicPr>
            <p:cNvPr id="165" name="Google Shape;16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71750" y="3409950"/>
              <a:ext cx="2619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33938" y="3409950"/>
              <a:ext cx="2619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96125" y="3409950"/>
              <a:ext cx="261900" cy="38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7"/>
          <p:cNvGrpSpPr/>
          <p:nvPr/>
        </p:nvGrpSpPr>
        <p:grpSpPr>
          <a:xfrm>
            <a:off x="571500" y="2095500"/>
            <a:ext cx="11048850" cy="2667000"/>
            <a:chOff x="571500" y="2095500"/>
            <a:chExt cx="11048850" cy="2667000"/>
          </a:xfrm>
        </p:grpSpPr>
        <p:sp>
          <p:nvSpPr>
            <p:cNvPr id="169" name="Google Shape;169;p17"/>
            <p:cNvSpPr/>
            <p:nvPr/>
          </p:nvSpPr>
          <p:spPr>
            <a:xfrm>
              <a:off x="571500" y="2095500"/>
              <a:ext cx="2000100" cy="26670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571500" y="2095500"/>
              <a:ext cx="20001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route</a:t>
              </a:r>
              <a:endParaRPr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532D"/>
                  </a:solidFill>
                  <a:latin typeface="Poppins"/>
                  <a:ea typeface="Poppins"/>
                  <a:cs typeface="Poppins"/>
                  <a:sym typeface="Poppins"/>
                </a:rPr>
                <a:t>Path Follow</a:t>
              </a:r>
              <a:endParaRPr b="1" sz="1600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Rover tracks line via TCRT5000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2833688" y="2095500"/>
              <a:ext cx="2000100" cy="26670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2833688" y="2095500"/>
              <a:ext cx="20001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532D"/>
                  </a:solidFill>
                  <a:latin typeface="Poppins"/>
                  <a:ea typeface="Poppins"/>
                  <a:cs typeface="Poppins"/>
                  <a:sym typeface="Poppins"/>
                </a:rPr>
                <a:t>Obstacle Scan</a:t>
              </a:r>
              <a:endParaRPr b="1" sz="1600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Ultrasonic checks for path blocks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5095875" y="2095500"/>
              <a:ext cx="2000100" cy="26670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5095875" y="2095500"/>
              <a:ext cx="20001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photo_camera</a:t>
              </a:r>
              <a:endParaRPr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532D"/>
                  </a:solidFill>
                  <a:latin typeface="Poppins"/>
                  <a:ea typeface="Poppins"/>
                  <a:cs typeface="Poppins"/>
                  <a:sym typeface="Poppins"/>
                </a:rPr>
                <a:t>Image Capture</a:t>
              </a:r>
              <a:endParaRPr b="1" sz="1600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RPi camera captures ground data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358063" y="2095500"/>
              <a:ext cx="2000100" cy="26670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7358063" y="2095500"/>
              <a:ext cx="20001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532D"/>
                  </a:solidFill>
                  <a:latin typeface="Poppins"/>
                  <a:ea typeface="Poppins"/>
                  <a:cs typeface="Poppins"/>
                  <a:sym typeface="Poppins"/>
                </a:rPr>
                <a:t>AI Analysis</a:t>
              </a:r>
              <a:endParaRPr b="1" sz="1600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Vision model identifies weeds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9620250" y="2095500"/>
              <a:ext cx="2000100" cy="26670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9620250" y="2095500"/>
              <a:ext cx="20001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flash_on</a:t>
              </a:r>
              <a:endParaRPr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532D"/>
                  </a:solidFill>
                  <a:latin typeface="Poppins"/>
                  <a:ea typeface="Poppins"/>
                  <a:cs typeface="Poppins"/>
                  <a:sym typeface="Poppins"/>
                </a:rPr>
                <a:t>Elimination</a:t>
              </a:r>
              <a:endParaRPr b="1" sz="1600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Laser activates via relay switch</a:t>
              </a:r>
              <a:endParaRPr b="0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6381750" y="23764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TCRT5000 Reflective Logic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381750" y="28432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navigation relies on infrared reflection intensity to distinguish between the path and field surface.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810375" y="3643312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White Surface: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High reflection → Low analog value.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810375" y="4138612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Black Path: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Low reflection → High analog value.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810375" y="463391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Correction: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Threshold-based PWM adjustment for smooth steering.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Precision Line Following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425" y="2376477"/>
            <a:ext cx="4810200" cy="3366900"/>
          </a:xfrm>
          <a:prstGeom prst="roundRect">
            <a:avLst>
              <a:gd fmla="val 1306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7881"/>
            <a:ext cx="3492549" cy="3614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97881"/>
            <a:ext cx="3492549" cy="3614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97881"/>
            <a:ext cx="3492549" cy="3614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4488656"/>
            <a:ext cx="2882949" cy="69056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804226" y="3164681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Distance Calc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876300" y="3688556"/>
            <a:ext cx="28829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Uses HC-SR04 ultrasonic pulses to measure gap.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582525" y="3164681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Servo Scan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4654599" y="3688556"/>
            <a:ext cx="28829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When blocked, SG90 servo rotates sensor 180° to find clear path.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360825" y="3164681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E-Stop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432899" y="3688556"/>
            <a:ext cx="28829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Automatic motor cutoff if obstacle is within 15cm threshold.</a:t>
            </a:r>
            <a:endParaRPr/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17662" y="2450306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71526" y="4775894"/>
            <a:ext cx="692497" cy="155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57875" y="245030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93324" y="2450306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Safety &amp; Obstacle Avoidance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809625" y="571500"/>
            <a:ext cx="49506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AI Vision Intelligence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2471737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Automated Classification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293846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Raspberry Pi 5 runs a localized YOLO (You Only Look Once) model for real-time inference. By processing high-resolution frames, it distinguishes between crop stems and invasive weed growth patterns.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71500" y="45386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Once detected, the coordinates are used to trigger the treatment relay with sub-second latency.</a:t>
            </a:r>
            <a:endParaRPr/>
          </a:p>
        </p:txBody>
      </p:sp>
      <p:pic>
        <p:nvPicPr>
          <p:cNvPr descr="enhance or make this image proper the (a) is cut from the left and distance between a and b is larger than c and d " id="223" name="Google Shape;2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0800" y="165350"/>
            <a:ext cx="6040200" cy="65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0800" y="3081375"/>
            <a:ext cx="6040199" cy="3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0800" y="6427450"/>
            <a:ext cx="6040199" cy="3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6083700" y="3081375"/>
            <a:ext cx="5967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(a)                                                                     (b)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047250" y="6222613"/>
            <a:ext cx="5967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(d)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3052762"/>
            <a:ext cx="2857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94%</a:t>
            </a:r>
            <a:endParaRPr sz="1300"/>
          </a:p>
        </p:txBody>
      </p:sp>
      <p:sp>
        <p:nvSpPr>
          <p:cNvPr id="234" name="Google Shape;234;p21"/>
          <p:cNvSpPr txBox="1"/>
          <p:nvPr/>
        </p:nvSpPr>
        <p:spPr>
          <a:xfrm>
            <a:off x="571500" y="4510087"/>
            <a:ext cx="28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Targeting Accuracy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4000500" y="2528887"/>
            <a:ext cx="8001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Targeted Laser Therapy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4000500" y="2995612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Using the KY-008 Laser Module coupled with a 5V Relay, the system provides a chemical-free alternative to traditional herbicides.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429125" y="3795712"/>
            <a:ext cx="7191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Switching: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Isolated via relay to protect RPi GPIO.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429125" y="4291012"/>
            <a:ext cx="7191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Intensity: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Concentrated thermal energy to neutralize weed growth cells.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4429125" y="4786312"/>
            <a:ext cx="7191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Safety: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Only activates when rover is stationary at a detected weed.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0500" y="38338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0" y="43291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0500" y="48244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Precision Elimination System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571500" y="27051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Control of the 4x TT Motors is managed through the L298N Dual H-Bridge driver, allowing for differential steering.</a:t>
            </a:r>
            <a:endParaRPr/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1000125" y="3505200"/>
            <a:ext cx="48102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Forward: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All IN pins configured for unidirectional rotation.</a:t>
            </a:r>
            <a:endParaRPr b="0" i="0" sz="1500" u="none" cap="none" strike="noStrike">
              <a:solidFill>
                <a:srgbClr val="37415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Turn:</a:t>
            </a:r>
            <a:r>
              <a:rPr lang="en-US" sz="150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Reversed polarity on left or right motor banks.</a:t>
            </a:r>
            <a:endParaRPr sz="1500">
              <a:solidFill>
                <a:srgbClr val="37415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PWM Speed:</a:t>
            </a:r>
            <a:r>
              <a:rPr lang="en-US" sz="150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Pulse-width modulation on ENA/ENB pins for variable torque.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500">
              <a:solidFill>
                <a:srgbClr val="37415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15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Motor Drive Implementation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0312"/>
            <a:ext cx="52387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14600"/>
            <a:ext cx="52387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38462" y="2890837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850582" y="3652837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UART Protocol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62025" y="411956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Distributed intelligence via Serial communication (3.3V logic).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772275" y="309562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Commands (RPi → ESP32):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Motion vectors, stop signals, and treatment coordinates.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6772275" y="3895725"/>
            <a:ext cx="4457700" cy="190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6772275" y="410527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Status (ESP32 → RPi):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Obstacle proximity warnings, path-loss alerts, and battery level telemetry.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Inter-Processor Communication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6381750" y="22240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Dual-Rail Regulation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6381750" y="26908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To avoid current starvation during motor spikes, the system employs a split power strategy.</a:t>
            </a:r>
            <a:endParaRPr/>
          </a:p>
        </p:txBody>
      </p:sp>
      <p:pic>
        <p:nvPicPr>
          <p:cNvPr descr="image.png" id="279" name="Google Shape;2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6810375" y="349091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Motor Rail (7.4V):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Direct battery feed to L298N driver for TT motors.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810375" y="429101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Logic Rail (5.1V):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Regulated via LM2596 buck converter for RPi 5 and SG90 servo.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810375" y="5091112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Stability: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1000µF capacitor buffer to prevent brownouts.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Power Management Strategy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86012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86012"/>
            <a:ext cx="3492549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804226" y="3452812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Noise Handling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876300" y="3976687"/>
            <a:ext cx="2882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100nF decoupling capacitors across TT motor terminals to suppress EMI.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4582525" y="3452812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Common Ground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4654599" y="3976687"/>
            <a:ext cx="2882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Unified ground reference across RPi, ESP32, and Driver for signal integrity.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8360825" y="3452812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Thermal Control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8432899" y="3976687"/>
            <a:ext cx="2882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Heatsink integration on LM2596 to prevent thermal throttling during operation.</a:t>
            </a:r>
            <a:endParaRPr/>
          </a:p>
        </p:txBody>
      </p:sp>
      <p:pic>
        <p:nvPicPr>
          <p:cNvPr descr="image.png" id="299" name="Google Shape;29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5025" y="2738437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Engineering For Stability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7012"/>
            <a:ext cx="52387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67012"/>
            <a:ext cx="523875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 txBox="1"/>
          <p:nvPr/>
        </p:nvSpPr>
        <p:spPr>
          <a:xfrm>
            <a:off x="962025" y="3157537"/>
            <a:ext cx="46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404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Current Advantages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6772275" y="3157537"/>
            <a:ext cx="46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404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Next Milestones</a:t>
            </a:r>
            <a:endParaRPr/>
          </a:p>
        </p:txBody>
      </p:sp>
      <p:pic>
        <p:nvPicPr>
          <p:cNvPr descr="image.png" id="313" name="Google Shape;31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176387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6"/>
          <p:cNvSpPr txBox="1"/>
          <p:nvPr/>
        </p:nvSpPr>
        <p:spPr>
          <a:xfrm>
            <a:off x="1038225" y="3586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1152525" y="35861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Zero herbicide residue.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1038225" y="3890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1152525" y="38909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Low-cost distributed hardware.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1038225" y="4195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1152525" y="41957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Real-time automated intervention.</a:t>
            </a:r>
            <a:endParaRPr/>
          </a:p>
        </p:txBody>
      </p:sp>
      <p:pic>
        <p:nvPicPr>
          <p:cNvPr descr="image.png" id="320" name="Google Shape;32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17638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 txBox="1"/>
          <p:nvPr/>
        </p:nvSpPr>
        <p:spPr>
          <a:xfrm>
            <a:off x="6848475" y="3586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6962775" y="35861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GPS-based waypoints.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6848475" y="3890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6962775" y="38909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Solar charging integration.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6848475" y="4195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6962775" y="41957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Robotic arm for physical weeding.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Strategic Scaling &amp; Future</a:t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3785711" y="1945927"/>
            <a:ext cx="46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4007400" y="3931400"/>
            <a:ext cx="41772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IU2341230380 - Abhimanyu Singh Rajawat</a:t>
            </a:r>
            <a:endParaRPr b="1" sz="1700">
              <a:solidFill>
                <a:srgbClr val="16653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IU2341230385 - Shiven Choksi</a:t>
            </a:r>
            <a:endParaRPr b="1" sz="1700">
              <a:solidFill>
                <a:srgbClr val="16653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IU2341230404 - Nikhil Solanki</a:t>
            </a:r>
            <a:endParaRPr b="1" sz="1700">
              <a:solidFill>
                <a:srgbClr val="16653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IU2341230408 - Trishta Soam</a:t>
            </a:r>
            <a:endParaRPr b="1" sz="1700">
              <a:solidFill>
                <a:srgbClr val="16653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IU2341230450 - Yogesh Tiwari</a:t>
            </a:r>
            <a:endParaRPr b="1" sz="1700">
              <a:solidFill>
                <a:srgbClr val="16653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580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